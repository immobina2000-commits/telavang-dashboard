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رشد (٪)</c:v>
                </c:pt>
              </c:strCache>
            </c:strRef>
          </c:tx>
          <c:spPr>
            <a:solidFill>
              <a:srgbClr val="EF7D1F"/>
            </a:solidFill>
            <a:effectLst/>
          </c:spPr>
          <c:invertIfNegative val="0"/>
          <c:dLbls>
            <c:numFmt formatCode="0.0&quot;٪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3181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7D1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F7D1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7D1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442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تخم‌مرغ</c:v>
                  </c:pt>
                  <c:pt idx="1">
                    <c:v>تلابار</c:v>
                  </c:pt>
                  <c:pt idx="2">
                    <c:v>تخم مرغ تبدیلی</c:v>
                  </c:pt>
                  <c:pt idx="3">
                    <c:v>تخم ماکیان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11.3</c:v>
                </c:pt>
                <c:pt idx="1">
                  <c:v>46.9</c:v>
                </c:pt>
                <c:pt idx="2">
                  <c:v>21.2</c:v>
                </c:pt>
                <c:pt idx="3">
                  <c:v>-5.4</c:v>
                </c:pt>
              </c:numCache>
            </c:numRef>
          </c:val>
        </c:ser>
        <c:dLbls>
          <c:numFmt formatCode="0.0&quot;٪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23181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9C2B4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3181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DD7C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3A2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23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40480"/>
            <a:ext cx="10515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800" dirty="0">
                <a:solidFill>
                  <a:srgbClr val="EF7D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/>
        </p:nvSpPr>
        <p:spPr>
          <a:xfrm>
            <a:off x="822960" y="502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EF7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تِلاونگ · هوش تجاری فروش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2318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83464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862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600" dirty="0">
                <a:solidFill>
                  <a:srgbClr val="F4F1EC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IGHT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30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تِلاونگ — گزارش مدیریتی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6517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تحلیل فروش تِلاونگ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40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1800" dirty="0">
                <a:solidFill>
                  <a:srgbClr val="EF7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گزارش مدیریتی برای مدیریت  ·  شهریور ۱۴۰۵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875520" y="457200"/>
            <a:ext cx="1737360" cy="1737360"/>
          </a:xfrm>
          <a:prstGeom prst="ellipse">
            <a:avLst/>
          </a:prstGeom>
          <a:solidFill>
            <a:srgbClr val="EF7D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75520" y="45720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روند فروش محصولات نسبت به دوره قبل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2542032" cy="301752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4A3A2E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2148840"/>
            <a:ext cx="2542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+۱۱٫۳٪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1546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تخم‌مرغ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703320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رشد نسبت به دوره قبل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502152" y="1737360"/>
            <a:ext cx="2542032" cy="301752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4A3A2E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02152" y="2148840"/>
            <a:ext cx="2542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F7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+۴۶٫۹٪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502152" y="31546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تلابار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639312" y="3703320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بالاترین رشد — پایه فروش کوچک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64224" y="1737360"/>
            <a:ext cx="2542032" cy="301752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4A3A2E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364224" y="2148840"/>
            <a:ext cx="2542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A9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+۲۱٫۲٪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364224" y="31546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تخم مرغ تبدیلی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501384" y="3703320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رشد پایدار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226296" y="1737360"/>
            <a:ext cx="2542032" cy="3017520"/>
          </a:xfrm>
          <a:prstGeom prst="roundRect">
            <a:avLst>
              <a:gd name="adj" fmla="val 43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4A3A2E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226296" y="2148840"/>
            <a:ext cx="2542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4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−۵٫۴٪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9226296" y="31546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تخم ماکیان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363456" y="3703320"/>
            <a:ext cx="22677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تنها محصول رو به کاهش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0749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دادهٔ شهریور ۱۴۰۵ نسبت به دوره مشابه قبل — مستقیماً از موتور محاسبهٔ داشبورد استخراج شده است.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مقایسهٔ نرخ رشد محصولات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822960" y="1600200"/>
          <a:ext cx="105156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i="1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زنجیره‌ای‌ها </a:t>
            </a:r>
            <a:pPr algn="r" indent="0" marL="0">
              <a:buNone/>
            </a:pPr>
            <a:r>
              <a:rPr lang="en-US" sz="1150" i="1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(بزرگ‌ترین کانال، خارج از این نمودار) این ماه ۸٫۶٪− افت کرده، اما نسبت به مدت مشابه سال قبل ۶۳٫۴٪+ رشد داشته — افت ماهانه در کنار روند بلندمدت صعودی باید دیده شود.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ریسک تمرکز روی نمایندگان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691640"/>
          <a:ext cx="10515600" cy="2377440"/>
        </p:xfrm>
        <a:graphic>
          <a:graphicData uri="http://schemas.openxmlformats.org/drawingml/2006/table">
            <a:tbl>
              <a:tblPr/>
              <a:tblGrid>
                <a:gridCol w="2628900"/>
                <a:gridCol w="2628900"/>
                <a:gridCol w="2628900"/>
                <a:gridCol w="2628900"/>
              </a:tblGrid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محصول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سهم ۳ نماینده برتر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سهم ۵ نماینده برتر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وضعیت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تخم‌مرغ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۳۱٫۷٪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۴۴٫۰٪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متوسط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تلابار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۳۲٫۴٪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۴۲٫۹٪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متوسط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تخم مرغ تبدیلی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۴۳٫۱٪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۵۴٫۶٪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944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پرریسک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تخم ماکیان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۳۶٫۷٪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۵۱٫۱٪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C944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پرریسک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22960" y="43434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بیش از ۵۰٪ فروش «تخم مرغ تبدیلی» و «تخم ماکیان» به فقط ۵ نماینده وابسته است — افت یا توقف همکاری هر یک از آن‌ها اثر مستقیم و سریع بر کل فروش آن محصول می‌گذارد.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822960" y="5440680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FDEDE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51560" y="54406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944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نمایندگان رو به کاهشِ مشترک در چند محصول:  </a:t>
            </a:r>
            <a:pPr algn="r" indent="0" marL="0">
              <a:buNone/>
            </a:pPr>
            <a:r>
              <a:rPr lang="en-US" sz="1300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اسماعیل نادری (اصفهان)، مصطفی جهادی (کاشان)، نفیسه مهدوی لنجی (کیش)، ابوذر روشندل (ملایر)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وابستگی متقاطع به یک نماینده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507492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4A3A2E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43000" y="2011680"/>
            <a:ext cx="640080" cy="640080"/>
          </a:xfrm>
          <a:prstGeom prst="ellipse">
            <a:avLst/>
          </a:prstGeom>
          <a:solidFill>
            <a:srgbClr val="EF7D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4300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۱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965960" y="20116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ویرا پخش پیشگام (فارس)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880360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نماینده برتر «تلابار» با رشد </a:t>
            </a:r>
            <a:pPr algn="r" indent="0" marL="0">
              <a:buNone/>
            </a:pPr>
            <a:r>
              <a:rPr lang="en-US" sz="1400" b="1" dirty="0">
                <a:solidFill>
                  <a:srgbClr val="EF7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+۱۰۵٪</a:t>
            </a:r>
            <a:pPr algn="r" indent="0" marL="0">
              <a:buNone/>
            </a:pPr>
            <a:r>
              <a:rPr lang="en-US" sz="1400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و همزمان نماینده برتر «تخم ماکیان» (در حال کاهش −۹٫۸٪)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4343400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یک نمایندهٔ واحد در دو دسته‌محصول متفاوت نقش کلیدی دارد — اگر همکاری با او مختل شود، دو محصول همزمان آسیب می‌بینند.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691640"/>
            <a:ext cx="507492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4A3A2E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0" y="201168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83680" y="2011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۲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06640" y="201168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شکاف تولید–فروش تلابار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2880360"/>
            <a:ext cx="4526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حجم ثبت‌شدهٔ تولید تلابار به‌طور قابل‌توجهی بیشتر از فروش ردیابی‌شده از طریق نمایندگان است — بخش بزرگی از تولید در این داشبورد رصد نمی‌شود.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452628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باید روشن شود این فروش کجا ثبت می‌شود (فروش مستقیم/آنلاین) یا کاهش تولید لازم است.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دقت پیش‌بینی و پویایی نمایندگان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5074920" cy="388620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4A3A2E">
                <a:alpha val="16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097280" y="19202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موتور پیش‌بینی قابل‌اعتماد است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2514600"/>
          <a:ext cx="4526280" cy="1828800"/>
        </p:xfrm>
        <a:graphic>
          <a:graphicData uri="http://schemas.openxmlformats.org/drawingml/2006/table">
            <a:tbl>
              <a:tblPr/>
              <a:tblGrid>
                <a:gridCol w="2263140"/>
                <a:gridCol w="22631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محصول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خطا (WAPE)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تخم‌مرغ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۷٫۶٪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تخم ماکیان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۹٫۲٪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تلابار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۱۱٫۹٪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زنجیره‌ای‌ها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۱۲٫۷٪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97280" y="452628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i="1" dirty="0">
                <a:solidFill>
                  <a:srgbClr val="4A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همهٔ محصولات اطمینان «بالا» دارند — این پیش‌بینی‌ها برای برنامه‌ریزی تولید قابل‌اعتمادند.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263640" y="1691640"/>
            <a:ext cx="5074920" cy="3886200"/>
          </a:xfrm>
          <a:prstGeom prst="roundRect">
            <a:avLst>
              <a:gd name="adj" fmla="val 2824"/>
            </a:avLst>
          </a:prstGeom>
          <a:solidFill>
            <a:srgbClr val="231815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537960" y="19202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F7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نمایندگان: افت و رشد همزمان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537960" y="2423160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۵ نماینده در ۴ محصول مختلف کاملاً به صفر رسیده‌اند (نه فقط افت) — از جمله «شرکت شیمیایی بهداشت» که از نظر نام با سایر نمایندگان هم‌خوانی ندارد.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537960" y="3657600"/>
            <a:ext cx="4526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E8DF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 همان زمان، تلابار و تخم مرغ تبدیلی ۸ نمایندهٔ تازه جذب کرده‌اند — بخشی از رشد آن‌ها از نمایندگان جدید است.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480060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C9BF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از ۴۶ نماینده، ۳۳ نفر (۷۲٪) هر چهار محصول را همزمان می‌فروشند — افت یک نماینده‌ی بزرگ چند محصول را هم‌زمان می‌زند.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فرصت‌ها و ریسک‌های جغرافیایی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691640"/>
          <a:ext cx="6309360" cy="237744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</a:tblGrid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محصول</a:t>
                      </a:r>
                      <a:endParaRPr lang="en-US" sz="13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سهم ۳ استان برتر</a:t>
                      </a:r>
                      <a:endParaRPr lang="en-US" sz="13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استان پیشرو</a:t>
                      </a:r>
                      <a:endParaRPr lang="en-US" sz="13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تخم‌مرغ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۴۱٫۱٪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مازندران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تلابار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۴۰٫۰٪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مازندران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تخم مرغ تبدیلی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۴۷٫۱٪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خراسان رضوی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E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50" b="1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تخم ماکیان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۳۹٫۹٪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23181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فارس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7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406640" y="1691640"/>
            <a:ext cx="3977640" cy="4160520"/>
          </a:xfrm>
          <a:prstGeom prst="roundRect">
            <a:avLst>
              <a:gd name="adj" fmla="val 2759"/>
            </a:avLst>
          </a:prstGeom>
          <a:solidFill>
            <a:srgbClr val="23181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680960" y="1920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F7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شکاف جمعیت در برابر فروش سرانه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2377440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EF7D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تهران </a:t>
            </a:r>
            <a:pPr algn="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با ۱۳.۳ میلیون نفر پرجمعیت‌ترین استان است، اما فروش سرانهٔ آن ۶ برابر پایین‌تر از میانگین کشوری است.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347472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E8DF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آذربایجان شرقی نیز وضعیت مشابهی دارد؛ در مقابل مازندران ۵ برابر میانگین کشوری فروش سرانه دارد.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44348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C9BF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سه استان (خراسان جنوبی، خراسان شمالی، سیستان و بلوچستان) هیچ فروشی ثبت‌شده ندارند؛ اولویت پایین‌تر دارند.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C9BF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 همه محصولات، ۳ استان برتر ۴۰ تا ۴۷ درصد فروش را تشکیل می‌دهند.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پیشنهادهای عملی برای مدیریت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68680" y="1737360"/>
            <a:ext cx="51663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4A3A2E">
                <a:alpha val="14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257800" y="1938528"/>
            <a:ext cx="548640" cy="548640"/>
          </a:xfrm>
          <a:prstGeom prst="ellipse">
            <a:avLst/>
          </a:prstGeom>
          <a:solidFill>
            <a:srgbClr val="EF7D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257800" y="1938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7373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شکاف تولید–فروش تلابار را ریشه‌یابی کنید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0" y="1737360"/>
            <a:ext cx="51663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4A3A2E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972800" y="1938528"/>
            <a:ext cx="548640" cy="548640"/>
          </a:xfrm>
          <a:prstGeom prst="ellipse">
            <a:avLst/>
          </a:prstGeom>
          <a:solidFill>
            <a:srgbClr val="EF7D1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972800" y="19385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812280" y="17373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نمایندگان رو به کاهش را شخصاً پیگیری کنید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68680" y="2953512"/>
            <a:ext cx="51663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4A3A2E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257800" y="3154680"/>
            <a:ext cx="548640" cy="548640"/>
          </a:xfrm>
          <a:prstGeom prst="ellipse">
            <a:avLst/>
          </a:prstGeom>
          <a:solidFill>
            <a:srgbClr val="EF7D1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257800" y="3154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953512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وابستگی به «ویرا پخش پیشگام» را کاهش دهید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83680" y="2953512"/>
            <a:ext cx="51663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4A3A2E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972800" y="3154680"/>
            <a:ext cx="548640" cy="548640"/>
          </a:xfrm>
          <a:prstGeom prst="ellipse">
            <a:avLst/>
          </a:prstGeom>
          <a:solidFill>
            <a:srgbClr val="EF7D1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972800" y="3154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2953512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تمرکز درآمدی روی ۳ استان برتر را پایش کنید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" y="4169664"/>
            <a:ext cx="51663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4A3A2E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257800" y="4370832"/>
            <a:ext cx="548640" cy="548640"/>
          </a:xfrm>
          <a:prstGeom prst="ellipse">
            <a:avLst/>
          </a:prstGeom>
          <a:solidFill>
            <a:srgbClr val="EF7D1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257800" y="43708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4169664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روش ثبت «سفارش تولید» را بازبینی کنید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83680" y="4169664"/>
            <a:ext cx="51663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4A3A2E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0972800" y="4370832"/>
            <a:ext cx="548640" cy="548640"/>
          </a:xfrm>
          <a:prstGeom prst="ellipse">
            <a:avLst/>
          </a:prstGeom>
          <a:solidFill>
            <a:srgbClr val="EF7D1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972800" y="43708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812280" y="4169664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3181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بازار تهران را نسبت به جمعیتش بازبینی کنید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lavang">
  <a:themeElements>
    <a:clrScheme name="Telavang">
      <a:dk1>
        <a:srgbClr val="231815"/>
      </a:dk1>
      <a:lt1>
        <a:srgbClr val="FFFFFF"/>
      </a:lt1>
      <a:dk2>
        <a:srgbClr val="4A3A2E"/>
      </a:dk2>
      <a:lt2>
        <a:srgbClr val="F4F1EC"/>
      </a:lt2>
      <a:accent1>
        <a:srgbClr val="EF7D1F"/>
      </a:accent1>
      <a:accent2>
        <a:srgbClr val="1E2761"/>
      </a:accent2>
      <a:accent3>
        <a:srgbClr val="8A9A5B"/>
      </a:accent3>
      <a:accent4>
        <a:srgbClr val="C9442A"/>
      </a:accent4>
      <a:accent5>
        <a:srgbClr val="4A3A2E"/>
      </a:accent5>
      <a:accent6>
        <a:srgbClr val="1E2761"/>
      </a:accent6>
      <a:hlink>
        <a:srgbClr val="EF7D1F"/>
      </a:hlink>
      <a:folHlink>
        <a:srgbClr val="C9442A"/>
      </a:folHlink>
    </a:clrScheme>
    <a:fontScheme name="Telavang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تِلاونگ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تحلیل فروش تِلاونگ</dc:title>
  <dc:subject>PptxGenJS Presentation</dc:subject>
  <dc:creator>تِلاونگ</dc:creator>
  <cp:lastModifiedBy>تِلاونگ</cp:lastModifiedBy>
  <cp:revision>1</cp:revision>
  <dcterms:created xsi:type="dcterms:W3CDTF">2026-10-17T05:10:54Z</dcterms:created>
  <dcterms:modified xsi:type="dcterms:W3CDTF">2026-10-17T05:10:54Z</dcterms:modified>
</cp:coreProperties>
</file>